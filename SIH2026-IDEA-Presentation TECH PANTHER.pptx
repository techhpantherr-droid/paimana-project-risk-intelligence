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ack Head" initials="CH" lastIdx="1" clrIdx="0">
    <p:extLst>
      <p:ext uri="{19B8F6BF-5375-455C-9EA6-DF929625EA0E}">
        <p15:presenceInfo xmlns:p15="http://schemas.microsoft.com/office/powerpoint/2012/main" userId="35d5b7de16f7b77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706" autoAdjust="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2064" y="900999"/>
            <a:ext cx="6320212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26103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Use case on web-based integrated project-monitoring platform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Tech Panther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5400" y="967059"/>
            <a:ext cx="5427133" cy="326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Idea/Solution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system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predicts which projects will go over budget or get delayed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before it actually happens..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every project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(Low / Medium / High)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officers know where to look first.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alerts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project starts showing warning signs,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slow progress or rising cost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dashboard shows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risky projects by sector, ministry and agency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chatbot (AI assistant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lets officers ask in plain language, like "Which road projects are likely to be delayed?”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116" y="1501"/>
            <a:ext cx="1368820" cy="646331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033D2E87-35D9-A481-274B-2149161D0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43351"/>
            <a:ext cx="5855515" cy="2831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Resolution</a:t>
            </a:r>
            <a:endParaRPr lang="en-US" sz="1600" b="1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tells what will likely happen.                                  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what is likely to happen.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early alerts before costs rise.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Prioritizes high-risk projects for officers.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the reasons behind delays and cost increases.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answers through a chatbot.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public money and delivers assets sooner.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CAC601-CFEB-63BF-F7F7-6745279E7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578" y="704429"/>
            <a:ext cx="7306043" cy="3972037"/>
          </a:xfrm>
          <a:prstGeom prst="rect">
            <a:avLst/>
          </a:prstGeom>
        </p:spPr>
      </p:pic>
      <p:sp>
        <p:nvSpPr>
          <p:cNvPr id="17" name="TextBox 8">
            <a:extLst>
              <a:ext uri="{FF2B5EF4-FFF2-40B4-BE49-F238E27FC236}">
                <a16:creationId xmlns:a16="http://schemas.microsoft.com/office/drawing/2014/main" id="{F7FC8E12-A915-BB65-5873-77BB8E1F8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8102" y="4589572"/>
            <a:ext cx="7058993" cy="2339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Value Propositions (UVP)</a:t>
            </a:r>
            <a:endParaRPr lang="en-IN" sz="1600" b="1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Predicts, not just reports: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future risks early.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Open-Source: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 cost with no vendor lock-in.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key reasons behind each risk score.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 AI Value: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Compares AI with traditional statistical methods.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Data Gaps: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Suggests missing fields for CUF improvement.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 chatbot and dashboard for all officers.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PAIMANA Integration: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monthly data and APIs for continuous learning.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771291-94F6-4A87-C7FC-448C15F0816B}"/>
              </a:ext>
            </a:extLst>
          </p:cNvPr>
          <p:cNvSpPr txBox="1"/>
          <p:nvPr/>
        </p:nvSpPr>
        <p:spPr>
          <a:xfrm>
            <a:off x="3842158" y="117020"/>
            <a:ext cx="6254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TITLE</a:t>
            </a:r>
            <a:endParaRPr lang="en-IN" sz="36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654B58-FFF6-C9E6-7D61-E01ABBDFD709}"/>
              </a:ext>
            </a:extLst>
          </p:cNvPr>
          <p:cNvGrpSpPr/>
          <p:nvPr/>
        </p:nvGrpSpPr>
        <p:grpSpPr>
          <a:xfrm>
            <a:off x="275303" y="221870"/>
            <a:ext cx="1533832" cy="646331"/>
            <a:chOff x="275303" y="221870"/>
            <a:chExt cx="1533832" cy="64633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DD94B2E-7CE9-F1A1-A519-55D4741DF007}"/>
                </a:ext>
              </a:extLst>
            </p:cNvPr>
            <p:cNvSpPr/>
            <p:nvPr/>
          </p:nvSpPr>
          <p:spPr>
            <a:xfrm>
              <a:off x="275303" y="245806"/>
              <a:ext cx="1533832" cy="60739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0E0A4E-1CC0-FFD9-56B7-AE9EFF0FCA91}"/>
                </a:ext>
              </a:extLst>
            </p:cNvPr>
            <p:cNvSpPr txBox="1"/>
            <p:nvPr/>
          </p:nvSpPr>
          <p:spPr>
            <a:xfrm>
              <a:off x="539352" y="221870"/>
              <a:ext cx="10088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Tech</a:t>
              </a:r>
            </a:p>
            <a:p>
              <a:pPr algn="ctr"/>
              <a:r>
                <a:rPr lang="en-US" dirty="0"/>
                <a:t>Panthers</a:t>
              </a:r>
              <a:endParaRPr lang="en-IN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eaLnBrk="1" hangingPunct="1">
              <a:buFont typeface="Wingdings" panose="05000000000000000000" pitchFamily="2" charset="2"/>
              <a:buChar char="v"/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460" y="1095375"/>
            <a:ext cx="5493627" cy="6278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 using CSV/Excel, REST APIs.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&amp; validate using Python, Pandas, NumPy.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delays, cost &amp; progress using Pandas.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project data in PostgreSQL, SQL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Models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cost/time overruns using XG Boost, Random Forest.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Engine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0–100 risk scores using Python, Scikit-learn.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–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predictions using SHAP.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risks using ML + rule-based alerts.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Benchmarking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projects using Pandas, Scikit-learn.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What-If Analysis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project changes using Python + ML.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Assistant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project insights using LLM + RAG.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analytics using React.js, Tailwind CSS, Recharts.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Maps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project locations using Leaflet/Map Libre.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APIs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system using Python, Fast API, REST APIs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access using JWT, RBAC, HTTPS.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using Docker, Git/GitHub</a:t>
            </a: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q"/>
              <a:defRPr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defRPr/>
            </a:pP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1738" y="1500"/>
            <a:ext cx="1468197" cy="6932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93A0F1E-8A93-5F07-9BE9-68D99A7AC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916" y="1946003"/>
            <a:ext cx="6742020" cy="374556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DC3B745-9D38-0274-4A7C-7A5F166538FA}"/>
              </a:ext>
            </a:extLst>
          </p:cNvPr>
          <p:cNvSpPr/>
          <p:nvPr/>
        </p:nvSpPr>
        <p:spPr>
          <a:xfrm>
            <a:off x="5578679" y="2055303"/>
            <a:ext cx="1023457" cy="578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18F521-74F8-DE1A-164B-D08C341BBC68}"/>
              </a:ext>
            </a:extLst>
          </p:cNvPr>
          <p:cNvSpPr/>
          <p:nvPr/>
        </p:nvSpPr>
        <p:spPr>
          <a:xfrm>
            <a:off x="10620462" y="1971413"/>
            <a:ext cx="1409474" cy="66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ED3393-006E-338E-C43A-E415D168A3BB}"/>
              </a:ext>
            </a:extLst>
          </p:cNvPr>
          <p:cNvGrpSpPr/>
          <p:nvPr/>
        </p:nvGrpSpPr>
        <p:grpSpPr>
          <a:xfrm>
            <a:off x="275303" y="226336"/>
            <a:ext cx="1533832" cy="646331"/>
            <a:chOff x="275303" y="226336"/>
            <a:chExt cx="1533832" cy="64633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D5D4FCD-A812-953B-CF91-BE9C304F2139}"/>
                </a:ext>
              </a:extLst>
            </p:cNvPr>
            <p:cNvSpPr/>
            <p:nvPr/>
          </p:nvSpPr>
          <p:spPr>
            <a:xfrm>
              <a:off x="275303" y="245806"/>
              <a:ext cx="1533832" cy="60739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0C123D-F825-BB93-6AEA-5149423EC8EA}"/>
                </a:ext>
              </a:extLst>
            </p:cNvPr>
            <p:cNvSpPr txBox="1"/>
            <p:nvPr/>
          </p:nvSpPr>
          <p:spPr>
            <a:xfrm>
              <a:off x="537818" y="226336"/>
              <a:ext cx="10088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Tech</a:t>
              </a:r>
            </a:p>
            <a:p>
              <a:pPr algn="ctr"/>
              <a:r>
                <a:rPr lang="en-US" dirty="0"/>
                <a:t>Panthers</a:t>
              </a:r>
              <a:endParaRPr lang="en-IN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E8A2F58-6F76-10A7-ADBC-C74FB9FD124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09860" y="1424560"/>
            <a:ext cx="7055479" cy="4443713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eaLnBrk="1" hangingPunct="1">
              <a:buFont typeface="Wingdings" panose="05000000000000000000" pitchFamily="2" charset="2"/>
              <a:buChar char="v"/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4172" y="1359451"/>
            <a:ext cx="5888567" cy="5416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q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already exists (OCMS + PAIMANA). Proven free tools like Python, scikit-learn and Stream lit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>
              <a:buFont typeface="Wingdings" panose="05000000000000000000" pitchFamily="2" charset="2"/>
              <a:buChar char="q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Plugs into PAIMANA APIs. Simple dashboard and chatbot.</a:t>
            </a:r>
          </a:p>
          <a:p>
            <a:pPr marL="457200" lvl="0" indent="-457200">
              <a:buFont typeface="Wingdings" panose="05000000000000000000" pitchFamily="2" charset="2"/>
              <a:buChar char="q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license fees. Runs on low-cost servers.</a:t>
            </a:r>
          </a:p>
          <a:p>
            <a:pPr marL="457200" lvl="0" indent="-457200">
              <a:buFont typeface="Wingdings" panose="05000000000000000000" pitchFamily="2" charset="2"/>
              <a:buChar char="q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Social/Legal: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only government project data, no personal data.</a:t>
            </a:r>
          </a:p>
          <a:p>
            <a:pPr marL="457200" lvl="0" indent="-457200">
              <a:buFont typeface="Wingdings" panose="05000000000000000000" pitchFamily="2" charset="2"/>
              <a:buChar char="q"/>
              <a:defRPr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Viability </a:t>
            </a:r>
            <a:b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cost: 100% open-source tools.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savings: Even a small cut in overruns saves crores.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upkeep: Retrains on new monthly data.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Scalable: Works across all 22 sectors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>
              <a:buFont typeface="Wingdings" panose="05000000000000000000" pitchFamily="2" charset="2"/>
              <a:buChar char="q"/>
              <a:defRPr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and Mitigation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Messy data → Clean it and flag poor records.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Wrong predictions → Compare models, test on past projects.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trust in AI → Show reasons behind each score.</a:t>
            </a:r>
          </a:p>
          <a:p>
            <a:pPr marL="457200" lvl="0" indent="-457200">
              <a:buFont typeface="Wingdings" panose="05000000000000000000" pitchFamily="2" charset="2"/>
              <a:buChar char="q"/>
              <a:defRPr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Supporting Facts</a:t>
            </a:r>
            <a:b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1,981 projects, 17 ministries, 22 sectors tracked.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rose from ₹37.13 to ₹42.78 lakh crore (about 15% extra).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years of historical data ready to use.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8B3D3B6-8ED4-3B6D-D998-634C3B66BC73}"/>
              </a:ext>
            </a:extLst>
          </p:cNvPr>
          <p:cNvGrpSpPr/>
          <p:nvPr/>
        </p:nvGrpSpPr>
        <p:grpSpPr>
          <a:xfrm>
            <a:off x="275303" y="226336"/>
            <a:ext cx="1533832" cy="646331"/>
            <a:chOff x="275303" y="226336"/>
            <a:chExt cx="1533832" cy="64633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3DF522C-915F-9E30-B226-588C7E6B5FD2}"/>
                </a:ext>
              </a:extLst>
            </p:cNvPr>
            <p:cNvSpPr/>
            <p:nvPr/>
          </p:nvSpPr>
          <p:spPr>
            <a:xfrm>
              <a:off x="275303" y="245806"/>
              <a:ext cx="1533832" cy="60739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F61766F-1E1D-3895-933C-F1A35CC278ED}"/>
                </a:ext>
              </a:extLst>
            </p:cNvPr>
            <p:cNvSpPr txBox="1"/>
            <p:nvPr/>
          </p:nvSpPr>
          <p:spPr>
            <a:xfrm>
              <a:off x="537818" y="226336"/>
              <a:ext cx="10088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Tech</a:t>
              </a:r>
            </a:p>
            <a:p>
              <a:pPr algn="ctr"/>
              <a:r>
                <a:rPr lang="en-US" dirty="0"/>
                <a:t>Panthers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eaLnBrk="1" hangingPunct="1">
              <a:buFont typeface="Wingdings" panose="05000000000000000000" pitchFamily="2" charset="2"/>
              <a:buChar char="v"/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8394" y="1500"/>
            <a:ext cx="1311541" cy="6192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DF7E7B-F430-2E1E-7EA5-598D6F726D97}"/>
              </a:ext>
            </a:extLst>
          </p:cNvPr>
          <p:cNvSpPr txBox="1"/>
          <p:nvPr/>
        </p:nvSpPr>
        <p:spPr>
          <a:xfrm>
            <a:off x="92279" y="893941"/>
            <a:ext cx="594954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Government / Monitoring Impact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Problems detected early, avoiding cost and delay escalation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Officers prioritize projects effectively with limited staff/time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Data‑driven decisions replace guesswork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Monitoring shifts from reactive reporting to proactive prevention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Economic Benefits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public money by reducing cost overruns on mega projects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completion reduces cost escalation and accelerates returns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operating cost due to open‑source tools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future budget and fund planning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👥 Social Benefits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Citizens receive infrastructure (roads, railways, water, power) sooner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Timely project completion reduces community disruption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Greater transparency and accountability in public projects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🏢 Benefits for Ministries &amp; Agencies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alerts help resolve land, contractor, or approval issues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Benchmarking enables cross‑sector project comparisons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reasons for delays/cost rise prevent repeat mistakes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Benefits for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MoSPI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new CUF fields for better predictions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20 years of OCMS and PAIMANA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AI vs. traditional statistics for future tech decisions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4EA6B3-E306-D10E-D06F-BCDC58B92CD1}"/>
              </a:ext>
            </a:extLst>
          </p:cNvPr>
          <p:cNvSpPr txBox="1"/>
          <p:nvPr/>
        </p:nvSpPr>
        <p:spPr>
          <a:xfrm>
            <a:off x="6302352" y="893941"/>
            <a:ext cx="5727583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🌱 Environmental Benefits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delays minimize wasted materials, idle machinery, and rework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delivery of clean energy, water, and transport projects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Scalability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Applicable across 22 sectors and 17 ministries in PAIMANA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Extendable to state‑level and smaller projects (&lt; ₹150 crore)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continuously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new monthly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Reusable by other </a:t>
            </a:r>
            <a:r>
              <a:rPr lang="en-IN" dirty="0">
                <a:effectLst/>
              </a:rPr>
              <a:t>departments tracking large projects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D308E21-56D4-C781-F739-1D8DBC63547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AF9F9"/>
              </a:clrFrom>
              <a:clrTo>
                <a:srgbClr val="FAF9F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33585" y="3263821"/>
            <a:ext cx="6196350" cy="352287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DE797AF-0E1E-D495-03FA-4AB4E4A4BD25}"/>
              </a:ext>
            </a:extLst>
          </p:cNvPr>
          <p:cNvGrpSpPr/>
          <p:nvPr/>
        </p:nvGrpSpPr>
        <p:grpSpPr>
          <a:xfrm>
            <a:off x="275303" y="226336"/>
            <a:ext cx="1533832" cy="646331"/>
            <a:chOff x="275303" y="226336"/>
            <a:chExt cx="1533832" cy="64633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BFE9FEA-2DFB-77E2-D5D6-2B5906D6D33B}"/>
                </a:ext>
              </a:extLst>
            </p:cNvPr>
            <p:cNvSpPr/>
            <p:nvPr/>
          </p:nvSpPr>
          <p:spPr>
            <a:xfrm>
              <a:off x="275303" y="245806"/>
              <a:ext cx="1533832" cy="60739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FE221C1-2036-E8BB-D9B1-66758F32B365}"/>
                </a:ext>
              </a:extLst>
            </p:cNvPr>
            <p:cNvSpPr txBox="1"/>
            <p:nvPr/>
          </p:nvSpPr>
          <p:spPr>
            <a:xfrm>
              <a:off x="537818" y="226336"/>
              <a:ext cx="10088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Tech</a:t>
              </a:r>
            </a:p>
            <a:p>
              <a:pPr algn="ctr"/>
              <a:r>
                <a:rPr lang="en-US" dirty="0"/>
                <a:t>Panthers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35545" y="-38832"/>
            <a:ext cx="10972800" cy="1143000"/>
          </a:xfrm>
        </p:spPr>
        <p:txBody>
          <a:bodyPr/>
          <a:lstStyle/>
          <a:p>
            <a:pPr marL="571500" indent="-571500" eaLnBrk="1" hangingPunct="1">
              <a:buFont typeface="Wingdings" panose="05000000000000000000" pitchFamily="2" charset="2"/>
              <a:buChar char="v"/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1199" y="1063837"/>
            <a:ext cx="6044801" cy="5509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PAIMANA / OCMS : </a:t>
            </a: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Studied existing Government project-monitoring system and available project data.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Analysis: </a:t>
            </a: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Reviewed project cost, progress, expenditure, delay and completion parameters.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 </a:t>
            </a: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monitoring mainly reports current/past status; our solution adds predictive risk analysis.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Research: </a:t>
            </a: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&amp; XG Boost studied for predicting cost and time overruns.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AI: </a:t>
            </a: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used to identify the major factors behind each prediction.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&amp; Alerts: </a:t>
            </a: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supports combining ML predictions + rule-based thresholds for early warnings.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Support: </a:t>
            </a: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Benchmarking, What-if analysis and AI/RAG assistant convert predictions into actionable insights.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Research: </a:t>
            </a: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Python, Pandas, Scikit-learn, PostgreSQL, Fast API and React/Tailwind selected based on suitability and scalability.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lang="en-US" sz="1600" b="1" u="sng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16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: </a:t>
            </a:r>
            <a:r>
              <a:rPr lang="en-US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MoSPI</a:t>
            </a: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PAIMANA / IPMDOCMS Project Monitoring PAIMANA Public Dashboard Research papers on ML-based project delay &amp; cost prediction Research on SHAP / Explainable AI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956" y="1501"/>
            <a:ext cx="1937980" cy="9150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54BD4E-94CE-E828-20CD-C00892CF41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84" b="14363"/>
          <a:stretch>
            <a:fillRect/>
          </a:stretch>
        </p:blipFill>
        <p:spPr>
          <a:xfrm>
            <a:off x="6470939" y="801405"/>
            <a:ext cx="5189757" cy="592007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2BB1DB6-F670-FA86-33A8-DDC83B5CE2E6}"/>
              </a:ext>
            </a:extLst>
          </p:cNvPr>
          <p:cNvGrpSpPr/>
          <p:nvPr/>
        </p:nvGrpSpPr>
        <p:grpSpPr>
          <a:xfrm>
            <a:off x="275303" y="245806"/>
            <a:ext cx="1533832" cy="646331"/>
            <a:chOff x="275303" y="245806"/>
            <a:chExt cx="1533832" cy="64633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D1E0A63-C734-2449-2572-746F1BB96D19}"/>
                </a:ext>
              </a:extLst>
            </p:cNvPr>
            <p:cNvSpPr/>
            <p:nvPr/>
          </p:nvSpPr>
          <p:spPr>
            <a:xfrm>
              <a:off x="275303" y="245806"/>
              <a:ext cx="1533832" cy="60739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4F95F9-3F72-4FD7-AA3B-EC1B0C2F8A59}"/>
                </a:ext>
              </a:extLst>
            </p:cNvPr>
            <p:cNvSpPr txBox="1"/>
            <p:nvPr/>
          </p:nvSpPr>
          <p:spPr>
            <a:xfrm>
              <a:off x="545695" y="245806"/>
              <a:ext cx="10088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Tech</a:t>
              </a:r>
            </a:p>
            <a:p>
              <a:pPr algn="ctr"/>
              <a:r>
                <a:rPr lang="en-US" dirty="0"/>
                <a:t>Panthers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7915</TotalTime>
  <Words>1060</Words>
  <Application>Microsoft Office PowerPoint</Application>
  <PresentationFormat>Widescreen</PresentationFormat>
  <Paragraphs>122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khushbu Kumari</cp:lastModifiedBy>
  <cp:revision>152</cp:revision>
  <cp:lastPrinted>2026-09-20T08:11:01Z</cp:lastPrinted>
  <dcterms:created xsi:type="dcterms:W3CDTF">2013-12-12T18:46:50Z</dcterms:created>
  <dcterms:modified xsi:type="dcterms:W3CDTF">2026-09-29T09:38:25Z</dcterms:modified>
  <cp:category/>
</cp:coreProperties>
</file>